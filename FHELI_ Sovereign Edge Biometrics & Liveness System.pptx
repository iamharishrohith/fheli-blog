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9144000" cy="16256000"/>
  <p:embeddedFontLst>
    <p:embeddedFont>
      <p:font typeface="Aharoni" panose="02010803020104030203" pitchFamily="2" charset="-79"/>
      <p:bold r:id="rId10"/>
    </p:embeddedFont>
    <p:embeddedFont>
      <p:font typeface="Audiowide" panose="02000503000000020004" pitchFamily="2" charset="0"/>
      <p:regular r:id="rId11"/>
    </p:embeddedFont>
    <p:embeddedFont>
      <p:font typeface="Barlow Condensed" panose="00000506000000000000" pitchFamily="2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Quattrocento Sans" panose="020B0502050000020003" pitchFamily="34" charset="0"/>
      <p:regular r:id="rId20"/>
      <p:bold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8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F35FE6-D5D5-501F-87B2-9CA5AE0A00DA}"/>
              </a:ext>
            </a:extLst>
          </p:cNvPr>
          <p:cNvSpPr/>
          <p:nvPr/>
        </p:nvSpPr>
        <p:spPr>
          <a:xfrm>
            <a:off x="1" y="0"/>
            <a:ext cx="16256000" cy="130793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7886" y="3328365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4400" b="1" kern="0" spc="300" dirty="0">
                <a:solidFill>
                  <a:srgbClr val="002060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FHELI: SOVEREIGN EDGE</a:t>
            </a:r>
            <a:endParaRPr lang="en-US" sz="16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</a:pPr>
            <a:r>
              <a:rPr lang="en-US" sz="4400" b="1" kern="0" spc="300" dirty="0">
                <a:solidFill>
                  <a:srgbClr val="002060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BIOMETRICS &amp; LIVENESS SYSTEM</a:t>
            </a:r>
            <a:endParaRPr lang="en-US" sz="160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7885" y="5191246"/>
            <a:ext cx="1016514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Homomorphic Encryption | Zero-Knowledge Proofs | Edge Neural Networks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Offline-First Architecture | Hardware Agnostic | Open Source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7576FA-C023-7087-9659-D46DFA6B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521" y="2774466"/>
            <a:ext cx="3217762" cy="3217762"/>
          </a:xfrm>
          <a:prstGeom prst="rect">
            <a:avLst/>
          </a:prstGeom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D5FA855C-F179-EDCC-434B-859A73890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638" y="-22697"/>
            <a:ext cx="8316472" cy="133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EA8FBC38-B041-3E88-5A3C-1D3AE4E7C711}"/>
              </a:ext>
            </a:extLst>
          </p:cNvPr>
          <p:cNvSpPr/>
          <p:nvPr/>
        </p:nvSpPr>
        <p:spPr>
          <a:xfrm>
            <a:off x="737886" y="1209754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60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NHAI HACKATHON 7.0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6A940D8-B3FF-8C60-602B-F6504C200CF3}"/>
              </a:ext>
            </a:extLst>
          </p:cNvPr>
          <p:cNvSpPr/>
          <p:nvPr/>
        </p:nvSpPr>
        <p:spPr>
          <a:xfrm>
            <a:off x="737884" y="6426843"/>
            <a:ext cx="10165145" cy="182590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arlow Condensed" panose="00000506000000000000" pitchFamily="2" charset="0"/>
                <a:ea typeface="Quattrocento Sans" pitchFamily="34" charset="-122"/>
                <a:cs typeface="Quattrocento Sans" pitchFamily="34" charset="-120"/>
              </a:rPr>
              <a:t>Title: </a:t>
            </a:r>
            <a:r>
              <a:rPr lang="en-IN" sz="2000" dirty="0">
                <a:latin typeface="Barlow Condensed" panose="00000506000000000000" pitchFamily="2" charset="0"/>
              </a:rPr>
              <a:t>Develop a mobile based secure offline facial recognition and liveness detection system for remote locations.</a:t>
            </a:r>
          </a:p>
          <a:p>
            <a:pPr algn="ctr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Barlow Condensed" panose="00000506000000000000" pitchFamily="2" charset="0"/>
              <a:ea typeface="Quattrocento Sans" pitchFamily="34" charset="-122"/>
              <a:cs typeface="Quattrocento Sans" pitchFamily="34" charset="-120"/>
            </a:endParaRPr>
          </a:p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arlow Condensed" panose="00000506000000000000" pitchFamily="2" charset="0"/>
                <a:ea typeface="Quattrocento Sans" pitchFamily="34" charset="-122"/>
                <a:cs typeface="Quattrocento Sans" pitchFamily="34" charset="-120"/>
              </a:rPr>
              <a:t>Objective: </a:t>
            </a:r>
            <a:r>
              <a:rPr lang="en-IN" sz="2000" dirty="0">
                <a:latin typeface="Barlow Condensed" panose="00000506000000000000" pitchFamily="2" charset="0"/>
              </a:rPr>
              <a:t>To develop a highly accurate, lightweight, and entirely offline facial recognition and liveness detection          algorithm that can be seamlessly integrated into the existing </a:t>
            </a:r>
            <a:r>
              <a:rPr lang="en-IN" sz="2000" dirty="0" err="1">
                <a:latin typeface="Barlow Condensed" panose="00000506000000000000" pitchFamily="2" charset="0"/>
              </a:rPr>
              <a:t>Datalake</a:t>
            </a:r>
            <a:r>
              <a:rPr lang="en-IN" sz="2000" dirty="0">
                <a:latin typeface="Barlow Condensed" panose="00000506000000000000" pitchFamily="2" charset="0"/>
              </a:rPr>
              <a:t> 3.0 app, ensuring uninterrupted operations in     zero-network zones. 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Barlow Condensed" panose="00000506000000000000" pitchFamily="2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73B83-1DBE-4D60-DDBA-CBF9945AFB3C}"/>
              </a:ext>
            </a:extLst>
          </p:cNvPr>
          <p:cNvSpPr txBox="1"/>
          <p:nvPr/>
        </p:nvSpPr>
        <p:spPr>
          <a:xfrm>
            <a:off x="12306110" y="2454077"/>
            <a:ext cx="2130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kern="0" spc="200" dirty="0">
                <a:latin typeface="Audiowide" panose="02000503000000020004" pitchFamily="2" charset="0"/>
                <a:ea typeface="Liter" pitchFamily="34" charset="-122"/>
                <a:cs typeface="Aharoni" panose="02010803020104030203" pitchFamily="2" charset="-79"/>
              </a:rPr>
              <a:t>Team</a:t>
            </a:r>
            <a:endParaRPr lang="en-IN" sz="3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B6DCFFF-9347-9992-4CD5-0FB5E12B1DBD}"/>
              </a:ext>
            </a:extLst>
          </p:cNvPr>
          <p:cNvSpPr/>
          <p:nvPr/>
        </p:nvSpPr>
        <p:spPr>
          <a:xfrm>
            <a:off x="11631592" y="7037159"/>
            <a:ext cx="2666408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0D1B491-007D-857A-5C87-2527E28C8B4B}"/>
              </a:ext>
            </a:extLst>
          </p:cNvPr>
          <p:cNvSpPr/>
          <p:nvPr/>
        </p:nvSpPr>
        <p:spPr>
          <a:xfrm>
            <a:off x="11669439" y="5742469"/>
            <a:ext cx="3403923" cy="293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Team Lead: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Harish Rohith 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</a:rPr>
              <a:t>Team Members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</a:rPr>
              <a:t>1.Karthikeyan T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</a:rPr>
              <a:t>2.Akilan K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</a:rPr>
              <a:t>3.Subhaharini 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</a:rPr>
              <a:t>4.Keerthika D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2794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64748B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PROBLEM STATEMENT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600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Offline Biometric Authentication in Zero-Connectivity Zones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5000" y="1143000"/>
            <a:ext cx="6858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35000" y="1143000"/>
            <a:ext cx="50800" cy="2159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20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cubicBezTo>
                  <a:pt x="168067" y="0"/>
                  <a:pt x="171033" y="645"/>
                  <a:pt x="173742" y="1870"/>
                </a:cubicBezTo>
                <a:lnTo>
                  <a:pt x="295245" y="53400"/>
                </a:lnTo>
                <a:cubicBezTo>
                  <a:pt x="309434" y="59397"/>
                  <a:pt x="320010" y="73392"/>
                  <a:pt x="319946" y="90289"/>
                </a:cubicBezTo>
                <a:cubicBezTo>
                  <a:pt x="319623" y="154265"/>
                  <a:pt x="293310" y="271319"/>
                  <a:pt x="182190" y="324525"/>
                </a:cubicBezTo>
                <a:cubicBezTo>
                  <a:pt x="171420" y="329684"/>
                  <a:pt x="158909" y="329684"/>
                  <a:pt x="148139" y="324525"/>
                </a:cubicBezTo>
                <a:cubicBezTo>
                  <a:pt x="36954" y="271319"/>
                  <a:pt x="10706" y="154265"/>
                  <a:pt x="10383" y="90289"/>
                </a:cubicBezTo>
                <a:cubicBezTo>
                  <a:pt x="10319" y="73392"/>
                  <a:pt x="20895" y="59397"/>
                  <a:pt x="35084" y="53400"/>
                </a:cubicBezTo>
                <a:lnTo>
                  <a:pt x="156523" y="1870"/>
                </a:lnTo>
                <a:cubicBezTo>
                  <a:pt x="159231" y="645"/>
                  <a:pt x="162133" y="0"/>
                  <a:pt x="165100" y="0"/>
                </a:cubicBezTo>
                <a:close/>
                <a:moveTo>
                  <a:pt x="165100" y="43081"/>
                </a:moveTo>
                <a:lnTo>
                  <a:pt x="165100" y="286926"/>
                </a:lnTo>
                <a:cubicBezTo>
                  <a:pt x="254099" y="243845"/>
                  <a:pt x="278026" y="148397"/>
                  <a:pt x="278606" y="91256"/>
                </a:cubicBezTo>
                <a:lnTo>
                  <a:pt x="165100" y="43145"/>
                </a:lnTo>
                <a:lnTo>
                  <a:pt x="165100" y="4314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95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SECURITY VULNERABILITY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272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Storing raw biometric templates in plaintext exposes them to extraction if the device is rooted or physically compromised. Standard offline mobile biometrics lack encryption-at-rest for face vectors.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000" y="3492500"/>
            <a:ext cx="6858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00" y="3492500"/>
            <a:ext cx="50800" cy="2159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893763" y="36703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-3225" y="76101"/>
                </a:moveTo>
                <a:lnTo>
                  <a:pt x="15156" y="180385"/>
                </a:lnTo>
                <a:cubicBezTo>
                  <a:pt x="24185" y="231656"/>
                  <a:pt x="64363" y="271835"/>
                  <a:pt x="115634" y="280863"/>
                </a:cubicBezTo>
                <a:lnTo>
                  <a:pt x="123825" y="282282"/>
                </a:lnTo>
                <a:cubicBezTo>
                  <a:pt x="113184" y="263838"/>
                  <a:pt x="106348" y="243136"/>
                  <a:pt x="104090" y="221337"/>
                </a:cubicBezTo>
                <a:lnTo>
                  <a:pt x="88548" y="224110"/>
                </a:lnTo>
                <a:cubicBezTo>
                  <a:pt x="82292" y="225207"/>
                  <a:pt x="76423" y="220370"/>
                  <a:pt x="77649" y="214114"/>
                </a:cubicBezTo>
                <a:cubicBezTo>
                  <a:pt x="80744" y="198184"/>
                  <a:pt x="89967" y="184061"/>
                  <a:pt x="103252" y="174838"/>
                </a:cubicBezTo>
                <a:lnTo>
                  <a:pt x="103252" y="126727"/>
                </a:lnTo>
                <a:cubicBezTo>
                  <a:pt x="102349" y="127243"/>
                  <a:pt x="101317" y="127566"/>
                  <a:pt x="100221" y="127759"/>
                </a:cubicBezTo>
                <a:lnTo>
                  <a:pt x="59591" y="134918"/>
                </a:lnTo>
                <a:cubicBezTo>
                  <a:pt x="53980" y="135885"/>
                  <a:pt x="48434" y="132080"/>
                  <a:pt x="49337" y="126469"/>
                </a:cubicBezTo>
                <a:cubicBezTo>
                  <a:pt x="51336" y="113829"/>
                  <a:pt x="61203" y="103252"/>
                  <a:pt x="74553" y="100866"/>
                </a:cubicBezTo>
                <a:cubicBezTo>
                  <a:pt x="85646" y="98931"/>
                  <a:pt x="96416" y="103123"/>
                  <a:pt x="103316" y="111056"/>
                </a:cubicBezTo>
                <a:lnTo>
                  <a:pt x="103316" y="96416"/>
                </a:lnTo>
                <a:cubicBezTo>
                  <a:pt x="103316" y="81905"/>
                  <a:pt x="107766" y="62622"/>
                  <a:pt x="124147" y="49079"/>
                </a:cubicBezTo>
                <a:cubicBezTo>
                  <a:pt x="140915" y="35213"/>
                  <a:pt x="167809" y="20766"/>
                  <a:pt x="204698" y="14124"/>
                </a:cubicBezTo>
                <a:cubicBezTo>
                  <a:pt x="185028" y="3612"/>
                  <a:pt x="149041" y="-6514"/>
                  <a:pt x="99060" y="2257"/>
                </a:cubicBezTo>
                <a:cubicBezTo>
                  <a:pt x="47273" y="11415"/>
                  <a:pt x="16510" y="34568"/>
                  <a:pt x="2257" y="51336"/>
                </a:cubicBezTo>
                <a:cubicBezTo>
                  <a:pt x="-3547" y="58107"/>
                  <a:pt x="-4708" y="67394"/>
                  <a:pt x="-3160" y="76165"/>
                </a:cubicBezTo>
                <a:close/>
                <a:moveTo>
                  <a:pt x="134144" y="89451"/>
                </a:moveTo>
                <a:lnTo>
                  <a:pt x="134144" y="202183"/>
                </a:lnTo>
                <a:cubicBezTo>
                  <a:pt x="134144" y="254228"/>
                  <a:pt x="166712" y="300792"/>
                  <a:pt x="215662" y="318527"/>
                </a:cubicBezTo>
                <a:lnTo>
                  <a:pt x="233526" y="325041"/>
                </a:lnTo>
                <a:cubicBezTo>
                  <a:pt x="242620" y="328330"/>
                  <a:pt x="252616" y="328330"/>
                  <a:pt x="261709" y="325041"/>
                </a:cubicBezTo>
                <a:lnTo>
                  <a:pt x="279638" y="318591"/>
                </a:lnTo>
                <a:cubicBezTo>
                  <a:pt x="328588" y="300792"/>
                  <a:pt x="361156" y="254293"/>
                  <a:pt x="361156" y="202183"/>
                </a:cubicBezTo>
                <a:lnTo>
                  <a:pt x="361156" y="89451"/>
                </a:lnTo>
                <a:cubicBezTo>
                  <a:pt x="361156" y="85001"/>
                  <a:pt x="359802" y="80551"/>
                  <a:pt x="356642" y="77455"/>
                </a:cubicBezTo>
                <a:cubicBezTo>
                  <a:pt x="342067" y="62944"/>
                  <a:pt x="306209" y="41339"/>
                  <a:pt x="247650" y="41339"/>
                </a:cubicBezTo>
                <a:cubicBezTo>
                  <a:pt x="189091" y="41339"/>
                  <a:pt x="153233" y="63009"/>
                  <a:pt x="138658" y="77455"/>
                </a:cubicBezTo>
                <a:cubicBezTo>
                  <a:pt x="135498" y="80615"/>
                  <a:pt x="134144" y="85001"/>
                  <a:pt x="134144" y="89451"/>
                </a:cubicBezTo>
                <a:close/>
                <a:moveTo>
                  <a:pt x="176773" y="210116"/>
                </a:moveTo>
                <a:cubicBezTo>
                  <a:pt x="175870" y="205601"/>
                  <a:pt x="181288" y="203021"/>
                  <a:pt x="184964" y="205859"/>
                </a:cubicBezTo>
                <a:cubicBezTo>
                  <a:pt x="202312" y="219144"/>
                  <a:pt x="224046" y="227077"/>
                  <a:pt x="247650" y="227077"/>
                </a:cubicBezTo>
                <a:cubicBezTo>
                  <a:pt x="271254" y="227077"/>
                  <a:pt x="292924" y="219144"/>
                  <a:pt x="310336" y="205859"/>
                </a:cubicBezTo>
                <a:cubicBezTo>
                  <a:pt x="314012" y="203021"/>
                  <a:pt x="319430" y="205601"/>
                  <a:pt x="318527" y="210116"/>
                </a:cubicBezTo>
                <a:cubicBezTo>
                  <a:pt x="312013" y="243265"/>
                  <a:pt x="282734" y="268352"/>
                  <a:pt x="247650" y="268352"/>
                </a:cubicBezTo>
                <a:cubicBezTo>
                  <a:pt x="212566" y="268352"/>
                  <a:pt x="183287" y="243329"/>
                  <a:pt x="176773" y="210116"/>
                </a:cubicBezTo>
                <a:close/>
                <a:moveTo>
                  <a:pt x="177096" y="144656"/>
                </a:moveTo>
                <a:cubicBezTo>
                  <a:pt x="181352" y="132531"/>
                  <a:pt x="192832" y="123825"/>
                  <a:pt x="206375" y="123825"/>
                </a:cubicBezTo>
                <a:cubicBezTo>
                  <a:pt x="219918" y="123825"/>
                  <a:pt x="231462" y="132531"/>
                  <a:pt x="235654" y="144656"/>
                </a:cubicBezTo>
                <a:cubicBezTo>
                  <a:pt x="237525" y="150073"/>
                  <a:pt x="232752" y="154781"/>
                  <a:pt x="227013" y="154781"/>
                </a:cubicBezTo>
                <a:lnTo>
                  <a:pt x="185738" y="154781"/>
                </a:lnTo>
                <a:cubicBezTo>
                  <a:pt x="180062" y="154781"/>
                  <a:pt x="175225" y="150009"/>
                  <a:pt x="177096" y="144656"/>
                </a:cubicBezTo>
                <a:close/>
                <a:moveTo>
                  <a:pt x="309563" y="154781"/>
                </a:moveTo>
                <a:lnTo>
                  <a:pt x="268288" y="154781"/>
                </a:lnTo>
                <a:cubicBezTo>
                  <a:pt x="262612" y="154781"/>
                  <a:pt x="257775" y="150009"/>
                  <a:pt x="259646" y="144656"/>
                </a:cubicBezTo>
                <a:cubicBezTo>
                  <a:pt x="263838" y="132531"/>
                  <a:pt x="275382" y="123825"/>
                  <a:pt x="288925" y="123825"/>
                </a:cubicBezTo>
                <a:cubicBezTo>
                  <a:pt x="302468" y="123825"/>
                  <a:pt x="314012" y="132531"/>
                  <a:pt x="318204" y="144656"/>
                </a:cubicBezTo>
                <a:cubicBezTo>
                  <a:pt x="320075" y="150073"/>
                  <a:pt x="315302" y="154781"/>
                  <a:pt x="309563" y="154781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6449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LIVENESS VULNERABILITY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0767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Simple RGB cameras are fooled by high-res color prints, tablet playbacks, twins, or paper cutouts where a proxy places their eyes behind a photo. No reliable 3D depth verification exists.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000" y="5842000"/>
            <a:ext cx="6858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000" y="5842000"/>
            <a:ext cx="50800" cy="2159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6019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13506" y="15478"/>
                </a:moveTo>
                <a:cubicBezTo>
                  <a:pt x="113506" y="6901"/>
                  <a:pt x="106606" y="0"/>
                  <a:pt x="98028" y="0"/>
                </a:cubicBezTo>
                <a:cubicBezTo>
                  <a:pt x="89451" y="0"/>
                  <a:pt x="82550" y="6901"/>
                  <a:pt x="82550" y="15478"/>
                </a:cubicBezTo>
                <a:lnTo>
                  <a:pt x="82550" y="41275"/>
                </a:lnTo>
                <a:cubicBezTo>
                  <a:pt x="59784" y="41275"/>
                  <a:pt x="41275" y="59784"/>
                  <a:pt x="41275" y="82550"/>
                </a:cubicBezTo>
                <a:lnTo>
                  <a:pt x="15478" y="82550"/>
                </a:lnTo>
                <a:cubicBezTo>
                  <a:pt x="6901" y="82550"/>
                  <a:pt x="0" y="89451"/>
                  <a:pt x="0" y="98028"/>
                </a:cubicBezTo>
                <a:cubicBezTo>
                  <a:pt x="0" y="106606"/>
                  <a:pt x="6901" y="113506"/>
                  <a:pt x="15478" y="113506"/>
                </a:cubicBezTo>
                <a:lnTo>
                  <a:pt x="41275" y="113506"/>
                </a:lnTo>
                <a:lnTo>
                  <a:pt x="41275" y="149622"/>
                </a:lnTo>
                <a:lnTo>
                  <a:pt x="15478" y="149622"/>
                </a:lnTo>
                <a:cubicBezTo>
                  <a:pt x="6901" y="149622"/>
                  <a:pt x="0" y="156523"/>
                  <a:pt x="0" y="165100"/>
                </a:cubicBezTo>
                <a:cubicBezTo>
                  <a:pt x="0" y="173677"/>
                  <a:pt x="6901" y="180578"/>
                  <a:pt x="15478" y="180578"/>
                </a:cubicBezTo>
                <a:lnTo>
                  <a:pt x="41275" y="180578"/>
                </a:lnTo>
                <a:lnTo>
                  <a:pt x="41275" y="216694"/>
                </a:lnTo>
                <a:lnTo>
                  <a:pt x="15478" y="216694"/>
                </a:lnTo>
                <a:cubicBezTo>
                  <a:pt x="6901" y="216694"/>
                  <a:pt x="0" y="223594"/>
                  <a:pt x="0" y="232172"/>
                </a:cubicBezTo>
                <a:cubicBezTo>
                  <a:pt x="0" y="240749"/>
                  <a:pt x="6901" y="247650"/>
                  <a:pt x="15478" y="247650"/>
                </a:cubicBezTo>
                <a:lnTo>
                  <a:pt x="41275" y="247650"/>
                </a:lnTo>
                <a:cubicBezTo>
                  <a:pt x="41275" y="270416"/>
                  <a:pt x="59784" y="288925"/>
                  <a:pt x="82550" y="288925"/>
                </a:cubicBezTo>
                <a:lnTo>
                  <a:pt x="82550" y="314722"/>
                </a:lnTo>
                <a:cubicBezTo>
                  <a:pt x="82550" y="323299"/>
                  <a:pt x="89451" y="330200"/>
                  <a:pt x="98028" y="330200"/>
                </a:cubicBezTo>
                <a:cubicBezTo>
                  <a:pt x="106606" y="330200"/>
                  <a:pt x="113506" y="323299"/>
                  <a:pt x="113506" y="314722"/>
                </a:cubicBezTo>
                <a:lnTo>
                  <a:pt x="113506" y="288925"/>
                </a:lnTo>
                <a:lnTo>
                  <a:pt x="149622" y="288925"/>
                </a:lnTo>
                <a:lnTo>
                  <a:pt x="149622" y="314722"/>
                </a:lnTo>
                <a:cubicBezTo>
                  <a:pt x="149622" y="323299"/>
                  <a:pt x="156523" y="330200"/>
                  <a:pt x="165100" y="330200"/>
                </a:cubicBezTo>
                <a:cubicBezTo>
                  <a:pt x="173677" y="330200"/>
                  <a:pt x="180578" y="323299"/>
                  <a:pt x="180578" y="314722"/>
                </a:cubicBezTo>
                <a:lnTo>
                  <a:pt x="180578" y="288925"/>
                </a:lnTo>
                <a:lnTo>
                  <a:pt x="216694" y="288925"/>
                </a:lnTo>
                <a:lnTo>
                  <a:pt x="216694" y="314722"/>
                </a:lnTo>
                <a:cubicBezTo>
                  <a:pt x="216694" y="323299"/>
                  <a:pt x="223594" y="330200"/>
                  <a:pt x="232172" y="330200"/>
                </a:cubicBezTo>
                <a:cubicBezTo>
                  <a:pt x="240749" y="330200"/>
                  <a:pt x="247650" y="323299"/>
                  <a:pt x="247650" y="314722"/>
                </a:cubicBezTo>
                <a:lnTo>
                  <a:pt x="247650" y="288925"/>
                </a:lnTo>
                <a:cubicBezTo>
                  <a:pt x="270416" y="288925"/>
                  <a:pt x="288925" y="270416"/>
                  <a:pt x="288925" y="247650"/>
                </a:cubicBezTo>
                <a:lnTo>
                  <a:pt x="314722" y="247650"/>
                </a:lnTo>
                <a:cubicBezTo>
                  <a:pt x="323299" y="247650"/>
                  <a:pt x="330200" y="240749"/>
                  <a:pt x="330200" y="232172"/>
                </a:cubicBezTo>
                <a:cubicBezTo>
                  <a:pt x="330200" y="223594"/>
                  <a:pt x="323299" y="216694"/>
                  <a:pt x="314722" y="216694"/>
                </a:cubicBezTo>
                <a:lnTo>
                  <a:pt x="288925" y="216694"/>
                </a:lnTo>
                <a:lnTo>
                  <a:pt x="288925" y="180578"/>
                </a:lnTo>
                <a:lnTo>
                  <a:pt x="314722" y="180578"/>
                </a:lnTo>
                <a:cubicBezTo>
                  <a:pt x="323299" y="180578"/>
                  <a:pt x="330200" y="173677"/>
                  <a:pt x="330200" y="165100"/>
                </a:cubicBezTo>
                <a:cubicBezTo>
                  <a:pt x="330200" y="156523"/>
                  <a:pt x="323299" y="149622"/>
                  <a:pt x="314722" y="149622"/>
                </a:cubicBezTo>
                <a:lnTo>
                  <a:pt x="288925" y="149622"/>
                </a:lnTo>
                <a:lnTo>
                  <a:pt x="288925" y="113506"/>
                </a:lnTo>
                <a:lnTo>
                  <a:pt x="314722" y="113506"/>
                </a:lnTo>
                <a:cubicBezTo>
                  <a:pt x="323299" y="113506"/>
                  <a:pt x="330200" y="106606"/>
                  <a:pt x="330200" y="98028"/>
                </a:cubicBezTo>
                <a:cubicBezTo>
                  <a:pt x="330200" y="89451"/>
                  <a:pt x="323299" y="82550"/>
                  <a:pt x="314722" y="82550"/>
                </a:cubicBezTo>
                <a:lnTo>
                  <a:pt x="288925" y="82550"/>
                </a:lnTo>
                <a:cubicBezTo>
                  <a:pt x="288925" y="59784"/>
                  <a:pt x="270416" y="41275"/>
                  <a:pt x="247650" y="41275"/>
                </a:cubicBezTo>
                <a:lnTo>
                  <a:pt x="247650" y="15478"/>
                </a:lnTo>
                <a:cubicBezTo>
                  <a:pt x="247650" y="6901"/>
                  <a:pt x="240749" y="0"/>
                  <a:pt x="232172" y="0"/>
                </a:cubicBezTo>
                <a:cubicBezTo>
                  <a:pt x="223594" y="0"/>
                  <a:pt x="216694" y="6901"/>
                  <a:pt x="216694" y="15478"/>
                </a:cubicBezTo>
                <a:lnTo>
                  <a:pt x="216694" y="41275"/>
                </a:lnTo>
                <a:lnTo>
                  <a:pt x="180578" y="41275"/>
                </a:lnTo>
                <a:lnTo>
                  <a:pt x="180578" y="15478"/>
                </a:lnTo>
                <a:cubicBezTo>
                  <a:pt x="180578" y="6901"/>
                  <a:pt x="173677" y="0"/>
                  <a:pt x="165100" y="0"/>
                </a:cubicBezTo>
                <a:cubicBezTo>
                  <a:pt x="156523" y="0"/>
                  <a:pt x="149622" y="6901"/>
                  <a:pt x="149622" y="15478"/>
                </a:cubicBezTo>
                <a:lnTo>
                  <a:pt x="149622" y="41275"/>
                </a:lnTo>
                <a:lnTo>
                  <a:pt x="113506" y="41275"/>
                </a:lnTo>
                <a:lnTo>
                  <a:pt x="113506" y="15478"/>
                </a:lnTo>
                <a:close/>
                <a:moveTo>
                  <a:pt x="103188" y="82550"/>
                </a:moveTo>
                <a:lnTo>
                  <a:pt x="227013" y="82550"/>
                </a:lnTo>
                <a:cubicBezTo>
                  <a:pt x="238428" y="82550"/>
                  <a:pt x="247650" y="91772"/>
                  <a:pt x="247650" y="103188"/>
                </a:cubicBezTo>
                <a:lnTo>
                  <a:pt x="247650" y="227013"/>
                </a:lnTo>
                <a:cubicBezTo>
                  <a:pt x="247650" y="238428"/>
                  <a:pt x="238428" y="247650"/>
                  <a:pt x="227013" y="247650"/>
                </a:cubicBezTo>
                <a:lnTo>
                  <a:pt x="103188" y="247650"/>
                </a:lnTo>
                <a:cubicBezTo>
                  <a:pt x="91772" y="247650"/>
                  <a:pt x="82550" y="238428"/>
                  <a:pt x="82550" y="227013"/>
                </a:cubicBezTo>
                <a:lnTo>
                  <a:pt x="82550" y="103188"/>
                </a:lnTo>
                <a:cubicBezTo>
                  <a:pt x="82550" y="91772"/>
                  <a:pt x="91772" y="82550"/>
                  <a:pt x="103188" y="82550"/>
                </a:cubicBezTo>
                <a:close/>
                <a:moveTo>
                  <a:pt x="113506" y="113506"/>
                </a:moveTo>
                <a:lnTo>
                  <a:pt x="113506" y="216694"/>
                </a:lnTo>
                <a:lnTo>
                  <a:pt x="216694" y="216694"/>
                </a:lnTo>
                <a:lnTo>
                  <a:pt x="216694" y="113506"/>
                </a:lnTo>
                <a:lnTo>
                  <a:pt x="113506" y="11350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59944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HARDWARE CONSTRAINTS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64262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Budget-to-mid-range field devices have &lt;=3GB RAM, weak NPUs, and limited battery. The biometric system must run in sub-second times and fit within a &lt;=20 MB bundle size.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47000" y="1143000"/>
            <a:ext cx="7874000" cy="6858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20" name="Text 18"/>
          <p:cNvSpPr/>
          <p:nvPr/>
        </p:nvSpPr>
        <p:spPr>
          <a:xfrm>
            <a:off x="8128000" y="13970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kern="0" spc="2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THE FHELI SOLUTION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28000" y="1905000"/>
            <a:ext cx="1016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128000" y="2159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8.45 MB Bundle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Channel Pruning + INT8 PTQ compresses BlazeFace + FaceMesh + MobileFaceNet pipeline from 37.2 MB to 8.45 MB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28000" y="3556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CKKS Homomorphic Matching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Cheon-Kim-Kim-Song scheme compares face vectors in encrypted ciphertext. Raw templates are never decrypted in memory.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28000" y="4953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Passive 3D Liveness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Depth contours, corneal specular reflection, pupil nystagmus FFT, and 3D motion parallax flow verification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28000" y="6350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zk-SNARK Decentralized Proofs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256-byte Groth16 proofs verify shift times and site boundaries offline, syncing when connectivity is restored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000" y="8255000"/>
            <a:ext cx="3619500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98500" y="82804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8.45 MB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13000" y="8343900"/>
            <a:ext cx="171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Bundle Size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45000" y="8255000"/>
            <a:ext cx="3619500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508500" y="82804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&lt;108 ms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23000" y="8343900"/>
            <a:ext cx="171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Pipeline Latency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55000" y="8255000"/>
            <a:ext cx="3619500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8318500" y="82804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~2 ms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33000" y="8343900"/>
            <a:ext cx="171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FHE Matching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5000" y="8255000"/>
            <a:ext cx="3556000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12128500" y="8280400"/>
            <a:ext cx="158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&gt;95%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779500" y="8343900"/>
            <a:ext cx="171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Face Accuracy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000" y="9017000"/>
            <a:ext cx="14986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14986000" y="8788400"/>
            <a:ext cx="63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02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279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COMPETITIVE LANDSCAPE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Global Edge Biometric Landscape Comparison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151376"/>
              </p:ext>
            </p:extLst>
          </p:nvPr>
        </p:nvGraphicFramePr>
        <p:xfrm>
          <a:off x="635000" y="1143000"/>
          <a:ext cx="14986000" cy="4063998"/>
        </p:xfrm>
        <a:graphic>
          <a:graphicData uri="http://schemas.openxmlformats.org/drawingml/2006/table">
            <a:tbl>
              <a:tblPr/>
              <a:tblGrid>
                <a:gridCol w="239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73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System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Primary Mechanism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Core Limitations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5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US (Apple FaceID)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Structured Light IR Dot Projection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Requires custom TrueDepth camera hardware; matches templates in plaintext in RAM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5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China (SenseTime)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Deep CNNs on NPUs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Large footprint (&gt;50MB), high power drain; centralized tracking of GPS/biometrics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5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Israel (Oosto)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Local database matching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Caches plaintext templates in SQLite; high-cost proprietary hardware terminals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5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Fheli (Ours)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Agnostic RGB + FHE + zk-SNARKs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Zero hardware dependencies; homomorphic ciphertext matching; decentralized, zero GPS leak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5000" y="546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KEY DIFFERENTIATORS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35000" y="5867400"/>
            <a:ext cx="762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635000" y="6096000"/>
            <a:ext cx="4699000" cy="127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635000" y="6096000"/>
            <a:ext cx="46990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863600" y="62738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Hardware Independence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3600" y="6629400"/>
            <a:ext cx="424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Operates on standard RGB cameras using passive specular calculations. No IR dot projectors required.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588000" y="6096000"/>
            <a:ext cx="4699000" cy="127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588000" y="6096000"/>
            <a:ext cx="46990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816600" y="62738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RAM Extraction Defense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16600" y="6629400"/>
            <a:ext cx="424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Vectors matched in ciphertext state. A memory dump yields only random cryptographic noise.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41000" y="6096000"/>
            <a:ext cx="5080000" cy="127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10541000" y="6096000"/>
            <a:ext cx="50800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0769600" y="6273800"/>
            <a:ext cx="462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Metadata Leakage Prevention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769600" y="6629400"/>
            <a:ext cx="462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zk-SNARKs prove shift validity without sending coordinates or ID strings to the cloud.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35000" y="7620000"/>
            <a:ext cx="14986000" cy="1143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20" name="Text 17"/>
          <p:cNvSpPr/>
          <p:nvPr/>
        </p:nvSpPr>
        <p:spPr>
          <a:xfrm>
            <a:off x="889000" y="77470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0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Hardware Dependencies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381500" y="7899400"/>
            <a:ext cx="0" cy="508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4572000" y="77470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256</a:t>
            </a: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bytes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Proof Size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064500" y="7899400"/>
            <a:ext cx="0" cy="508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8255000" y="774700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100%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Open Source Stack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1747500" y="7899400"/>
            <a:ext cx="0" cy="508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11938000" y="7747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0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Cloud GPS Leak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35000" y="9017000"/>
            <a:ext cx="14986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14986000" y="8788400"/>
            <a:ext cx="63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03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2794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CORE ARCHITECTURE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Five Integrated Technical Pillars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5000" y="1117600"/>
            <a:ext cx="4737100" cy="3403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35000" y="1117600"/>
            <a:ext cx="47371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13208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01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" y="193715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FHE VECTOR MATCHING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8200" y="2387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CKKS homomorphic scheme executes 128-D dot product inside ciphertext space. Raw biometric templates never decrypted.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200" y="35306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~2 ms</a:t>
            </a: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matching latency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N=2^11, Delta=2^30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53100" y="1117600"/>
            <a:ext cx="4749800" cy="3403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753100" y="1117600"/>
            <a:ext cx="47498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56300" y="13208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02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56300" y="193715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CORNEAL SPECULAR CHECK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56300" y="2387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Mobile display changes colors at 100ms intervals. Camera captures specular reflections on cornea to verify 3D curvature.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56300" y="35306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Sunlight fallback</a:t>
            </a: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mode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EER + MAR at &gt;80,000 lux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883900" y="1117600"/>
            <a:ext cx="4737100" cy="3403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83900" y="1117600"/>
            <a:ext cx="47371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1087100" y="13208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03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87100" y="193715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3D PARALLAX FLOW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087100" y="23876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Tracks nose-to-cheek optical flow from saccadic tremors. Real 3D faces produce depth parallax; flat photos yield zero.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87100" y="35306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Delta &gt; 0.0003</a:t>
            </a: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threshold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Real vs spoof detection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95500" y="4775200"/>
            <a:ext cx="4737100" cy="3403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2095500" y="4775200"/>
            <a:ext cx="47371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298700" y="49784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04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298700" y="559475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zk-SNARK ATTENDANCE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98700" y="60452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Groth16 generates 256-byte proofs on-device. Verifies match score, GPS boundary, and shift window without revealing data.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298700" y="71882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&lt;108 ms</a:t>
            </a: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UI response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Async background proof gen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13600" y="4775200"/>
            <a:ext cx="4749800" cy="3403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213600" y="4775200"/>
            <a:ext cx="4749800" cy="50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416800" y="49784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05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16800" y="559475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NEUROMORPHIC SLICING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16800" y="60452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Native C++ frame slicing monitors temporal motion deltas. TFLite models execute only when motion threshold is crossed.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16800" y="71882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80%</a:t>
            </a: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idle CPU reduction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Prevents overheating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000" y="8280400"/>
            <a:ext cx="14986000" cy="4826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35" name="Text 33"/>
          <p:cNvSpPr/>
          <p:nvPr/>
        </p:nvSpPr>
        <p:spPr>
          <a:xfrm>
            <a:off x="889000" y="8331200"/>
            <a:ext cx="144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Similarity(A,B) = Sum(Ai * Bi) | CKKS: Cmatch = Sum(Cenroll,i (x) Clive,i) | Decrypt(Cmatch,sk) &gt;= 0.85 = PASS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5000" y="9017000"/>
            <a:ext cx="14986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4986000" y="8788400"/>
            <a:ext cx="63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04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2794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MODEL OPTIMIZATION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37.2 MB Compressed to 8.45 MB at Sub-Second Speed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5000" y="1117600"/>
            <a:ext cx="14986000" cy="114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320800"/>
            <a:ext cx="2540000" cy="7366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20800"/>
            <a:ext cx="254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37.2 MB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Base Model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83000" y="1587500"/>
            <a:ext cx="1016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3810000" y="1346200"/>
            <a:ext cx="88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Pruning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26000" y="1320800"/>
            <a:ext cx="2540000" cy="7366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1320800"/>
            <a:ext cx="254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~18 MB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Channel Pruned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3000" y="1587500"/>
            <a:ext cx="1016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7620000" y="1346200"/>
            <a:ext cx="88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INT8 PTQ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36000" y="1320800"/>
            <a:ext cx="2540000" cy="7366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320800"/>
            <a:ext cx="254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~12 MB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Quantized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303000" y="1587500"/>
            <a:ext cx="1016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11366500" y="1346200"/>
            <a:ext cx="101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Coalescing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446000" y="1320800"/>
            <a:ext cx="2540000" cy="736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0" y="1320800"/>
            <a:ext cx="254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8.45 MB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Final Fheli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602656"/>
              </p:ext>
            </p:extLst>
          </p:nvPr>
        </p:nvGraphicFramePr>
        <p:xfrm>
          <a:off x="635000" y="2489200"/>
          <a:ext cx="9906000" cy="3429000"/>
        </p:xfrm>
        <a:graphic>
          <a:graphicData uri="http://schemas.openxmlformats.org/drawingml/2006/table">
            <a:tbl>
              <a:tblPr/>
              <a:tblGrid>
                <a:gridCol w="217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7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Component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Architecture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Precision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Original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Quantized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Latency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Face Detection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BlazeFace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INT8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1.2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150 KB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~5 ms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Landmarks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FaceMesh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INT8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12.0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2.5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~18 ms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Recognition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MobileFaceNet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INT8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24.0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5.8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~85 ms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Operator Fusion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Conv+BN+ReLU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INT8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-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-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~0 ms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7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TOTAL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3-Stage Pipeline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INT8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37.2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8.45 MB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D9488"/>
                          </a:solidFill>
                          <a:latin typeface="Poppins" panose="00000500000000000000" pitchFamily="2" charset="0"/>
                          <a:ea typeface="QuattrocentoSans" pitchFamily="34" charset="-122"/>
                          <a:cs typeface="Poppins" panose="00000500000000000000" pitchFamily="2" charset="0"/>
                        </a:rPr>
                        <a:t>~108 ms</a:t>
                      </a:r>
                      <a:endParaRPr lang="en-US" sz="1600" dirty="0">
                        <a:latin typeface="Poppins" panose="00000500000000000000" pitchFamily="2" charset="0"/>
                        <a:ea typeface="QuattrocentoSans" charset="0"/>
                        <a:cs typeface="Poppins" panose="00000500000000000000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10795000" y="2489200"/>
            <a:ext cx="4826000" cy="3556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21" name="Text 18"/>
          <p:cNvSpPr/>
          <p:nvPr/>
        </p:nvSpPr>
        <p:spPr>
          <a:xfrm>
            <a:off x="11112500" y="2641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kern="0" spc="2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KEY METRICS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1112500" y="3022600"/>
            <a:ext cx="635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11112500" y="3175000"/>
            <a:ext cx="419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77.3%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112500" y="38100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Size Reduction Achieved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112500" y="4165600"/>
            <a:ext cx="419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4.4x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112500" y="48006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Compression Ratio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112500" y="51562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D9488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&lt;108 ms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112500" y="56896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End-to-End Pipeline Latency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5000" y="6121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DEMOGRAPHIC ADAPTABILITY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35000" y="6527800"/>
            <a:ext cx="762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8"/>
          <p:cNvSpPr/>
          <p:nvPr/>
        </p:nvSpPr>
        <p:spPr>
          <a:xfrm>
            <a:off x="635000" y="6731000"/>
            <a:ext cx="7239000" cy="203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/>
          <p:nvPr/>
        </p:nvSpPr>
        <p:spPr>
          <a:xfrm>
            <a:off x="889000" y="6883400"/>
            <a:ext cx="6731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Indian Demographics Fine-Tuning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MobileFaceNet fine-tuned on IITK Face Database + VGGFace2 subset with Indian faces across Fitzpatrick Scale Types III to VI, diverse hairstyles, and facial features.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Target accuracy: &gt;95%</a:t>
            </a: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reliably maintained.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8128000" y="6731000"/>
            <a:ext cx="7493000" cy="203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1"/>
          <p:cNvSpPr/>
          <p:nvPr/>
        </p:nvSpPr>
        <p:spPr>
          <a:xfrm>
            <a:off x="8382000" y="6883400"/>
            <a:ext cx="6985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Low-Light / Shadow Preprocessing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Native JSI pre-processing wrapper automatically runs CLAHE (Contrast Limited Adaptive Histogram Equalization) to normalize contrast across face regions before TFLite inference.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Handles harsh shadows &amp; low-light.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35000" y="9017000"/>
            <a:ext cx="14986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/>
          <p:nvPr/>
        </p:nvSpPr>
        <p:spPr>
          <a:xfrm>
            <a:off x="14986000" y="8788400"/>
            <a:ext cx="63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05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2794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SECURITY &amp; SYNC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63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Security Architecture &amp; Offline Sync Protocol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5000" y="1143000"/>
            <a:ext cx="7366000" cy="492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35000" y="1143000"/>
            <a:ext cx="7366000" cy="508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143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1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THREAT MITIGATION (OWASP MOBILE TOP 10)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9000" y="18034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Physical DB Extraction</a:t>
            </a: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SQLCipher AES-256 encryption prevents decryption even if database files are copied from rooted devices.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9000" y="2653498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Replay &amp; Spoof Attacks</a:t>
            </a: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Active blink/smile verification combined with passive 3D depth variance blocks all 2D prints and screen playbacks.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9000" y="3607765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Attendance Manipulation</a:t>
            </a: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SHA-256 signature binds RecordID + Timestamp + GPS + MatchScore. Any tampering voids the hash.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000" y="4353691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Key Stealing</a:t>
            </a: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Keys generated inside hardware-backed Secure Enclave / KeyStore. Unextractable even with root privilege.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9000" y="5180635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Network Interception</a:t>
            </a:r>
            <a:r>
              <a:rPr lang="en-US" sz="16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AWS Lambda upload batches signed with HMAC-SHA256 protecting against MITM payload alterations.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55000" y="1143000"/>
            <a:ext cx="7366000" cy="49276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12954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kern="0" spc="2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OFFLINE SYNC &amp; PURGE PROTOCOL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72500" y="1701800"/>
            <a:ext cx="635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572500" y="18796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1. NetInfo Monitor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Listens for connection changes. Detects when device comes back online.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72500" y="2628900"/>
            <a:ext cx="6731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ysDot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8572500" y="27305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2. Batch Generation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Unsynced records aggregated into signed JSON with deviceId, records array, and HMAC-SHA256 batchHash.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72500" y="3784600"/>
            <a:ext cx="6731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ysDot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572500" y="39116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3. AWS Gateway Upload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Signed payload transmitted to AWS endpoint over secure channel.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72500" y="4965700"/>
            <a:ext cx="6731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ysDot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572500" y="50673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4. Purge-on-Receipt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On successful response signature, local records immediately deleted to prevent storage bloat.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000" y="6248400"/>
            <a:ext cx="14986000" cy="248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400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PROJECT DIRECTORY STRUCTURE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2500" y="6763151"/>
            <a:ext cx="4445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android/app/src/main/jni/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C++ JSI compilation targets</a:t>
            </a:r>
          </a:p>
          <a:p>
            <a:pPr>
              <a:lnSpc>
                <a:spcPct val="160000"/>
              </a:lnSpc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ios/FheliEngineFramework/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Swift JSI Native Bridges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15000" y="6763151"/>
            <a:ext cx="4445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src/components/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CameraView.tsx, </a:t>
            </a:r>
            <a:r>
              <a:rPr lang="en-US" sz="1400" dirty="0" err="1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LivenessOverlay.tsx</a:t>
            </a:r>
            <a:endParaRPr lang="en-US" sz="1400" dirty="0">
              <a:solidFill>
                <a:srgbClr val="1E293B"/>
              </a:solidFill>
              <a:latin typeface="Poppins" panose="00000500000000000000" pitchFamily="2" charset="0"/>
              <a:ea typeface="Quattrocento Sans" pitchFamily="34" charset="-122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src/database/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DBManager.ts (SQLCipher)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477500" y="6763151"/>
            <a:ext cx="4826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src/utils/liveness.ts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EAR, MAR, Parallax checks</a:t>
            </a:r>
          </a:p>
          <a:p>
            <a:pPr>
              <a:lnSpc>
                <a:spcPct val="160000"/>
              </a:lnSpc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948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src/utils/ZKProver.ts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snarkjs Groth16 prover wrapper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000" y="9017000"/>
            <a:ext cx="14986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4986000" y="8788400"/>
            <a:ext cx="63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06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2794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R&amp;D REFERENCES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56555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Academic Foundation &amp; Open-Source Compliance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5000" y="1129175"/>
            <a:ext cx="723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CRYPTOGRAPHY &amp; PRIVACY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5000" y="1510175"/>
            <a:ext cx="635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35000" y="1662575"/>
            <a:ext cx="723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CKKS Cryptosystem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Cheon, J.H., Kim, A., Kim, M., &amp; Song, Y. (2017). Homomorphic Encryption for Arithmetic of Approximate Numbers.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Asiacrypt 2017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Springer, pp. 409-437.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5000" y="2742075"/>
            <a:ext cx="723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OpenFHE Library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Badawi, A., et al. (2022). OpenFHE: Open-Source Fully Homomorphic Encryption Library.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arXiv:2208.05614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5000" y="3465975"/>
            <a:ext cx="723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Groth16 Protocol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Groth, J. (2016). On the Size of Pairing-Based Non-interactive Zero-Knowledge Proofs.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Eurocrypt 2016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Springer, pp. 305-326.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5000" y="4189875"/>
            <a:ext cx="723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Pinocchio System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Parno, B., Howald, J., Howell, J., &amp; Gentry, C. (2013). Pinocchio: Nearly Practical Verifiable Computation.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IEEE S&amp;P 2013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pp. 238-252.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55000" y="1129175"/>
            <a:ext cx="736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kern="0" spc="100" dirty="0">
                <a:solidFill>
                  <a:srgbClr val="1B2A3C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FACIAL MODELS &amp; LIVENESS DETECTION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55000" y="1510175"/>
            <a:ext cx="635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0" y="1662575"/>
            <a:ext cx="736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MobileFaceNet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Chen, S., Liu, Y., Gao, X., &amp; Han, Z. (2018). MobileFaceNets: Efficient CNNs for Accurate Real-Time Face Verification on Mobile Devices.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CCBR 2018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Springer, pp. 428-438.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55000" y="2386475"/>
            <a:ext cx="736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BlazeFace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Bazarevsky, V., et al. (2019). BlazeFace: Sub-millisecond Neural Face Detector on Mobile GPUs.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arXiv:1907.05047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55000" y="3110375"/>
            <a:ext cx="736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FaceMesh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Kartynnik, V., Ablavatski, A., Grishchenko, I., &amp; Grundmann, M. (2019). Real-time Facial Landmark Detector on Mobile.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arXiv:1907.06724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55000" y="3834275"/>
            <a:ext cx="736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EAR Blink Detection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Soukupova, T., &amp; Cech, J. (2016). Real-Time Eye Blink Detection using Facial Landmarks.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CVWW 2016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pp. 1-8.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55000" y="4558175"/>
            <a:ext cx="736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Optical Flow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Anandan, P. (1989). A Computational Framework for Visual Motion.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Int. J. Computer Vision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2(3), 283-310.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5000" y="5028075"/>
            <a:ext cx="723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Pupil Tremor (Nystagmus)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 — Martinez-Conde, S., Macknik, S.L., &amp; Hubel, D.H. (2004). The Role of Fixational Eye Movements in Visual Perception. </a:t>
            </a:r>
            <a:r>
              <a:rPr lang="en-US" sz="1400" i="1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Nature Reviews Neuroscience</a:t>
            </a:r>
            <a:r>
              <a:rPr lang="en-US" sz="1400" dirty="0">
                <a:solidFill>
                  <a:srgbClr val="1E293B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, 5(3), 229-240.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000" y="5993274"/>
            <a:ext cx="14986000" cy="2769725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070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kern="0" spc="200" dirty="0">
                <a:solidFill>
                  <a:srgbClr val="FFFFFF"/>
                </a:solidFill>
                <a:latin typeface="Poppins" panose="00000500000000000000" pitchFamily="2" charset="0"/>
                <a:ea typeface="Liter" pitchFamily="34" charset="-122"/>
                <a:cs typeface="Poppins" panose="00000500000000000000" pitchFamily="2" charset="0"/>
              </a:rPr>
              <a:t>OPEN-SOURCE TECHNOLOGY STACK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52500" y="6502400"/>
            <a:ext cx="635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52500" y="6705600"/>
            <a:ext cx="266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TensorFlow Lite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Apache License 2.0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46500" y="6832600"/>
            <a:ext cx="0" cy="6096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873500" y="6705600"/>
            <a:ext cx="266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OpenFHE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BSD 2-Clause License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67500" y="6832600"/>
            <a:ext cx="0" cy="6096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6794500" y="6705600"/>
            <a:ext cx="266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snarkjs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MIT License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88500" y="6832600"/>
            <a:ext cx="0" cy="6096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715500" y="6705600"/>
            <a:ext cx="266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MediaPipe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Apache License 2.0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509500" y="6832600"/>
            <a:ext cx="0" cy="6096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636500" y="6705600"/>
            <a:ext cx="266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SQLCipher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BSD 3-Clause License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52500" y="7747000"/>
            <a:ext cx="143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Fheli is built exclusively on open-source technologies requiring no additional licensing fees.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Poppins" panose="00000500000000000000" pitchFamily="2" charset="0"/>
                <a:ea typeface="Quattrocento Sans" pitchFamily="34" charset="-122"/>
                <a:cs typeface="Poppins" panose="00000500000000000000" pitchFamily="2" charset="0"/>
              </a:rPr>
              <a:t>All cryptographic operations use formally verified academic schemes with peer-reviewed security proofs.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000" y="9017000"/>
            <a:ext cx="14986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4986000" y="8788400"/>
            <a:ext cx="63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Poppins" panose="00000500000000000000" pitchFamily="2" charset="0"/>
                <a:ea typeface="QuattrocentoSans" pitchFamily="34" charset="-122"/>
                <a:cs typeface="Poppins" panose="00000500000000000000" pitchFamily="2" charset="0"/>
              </a:rPr>
              <a:t>07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1560</Words>
  <Application>Microsoft Office PowerPoint</Application>
  <PresentationFormat>Custom</PresentationFormat>
  <Paragraphs>236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Audiowide</vt:lpstr>
      <vt:lpstr>Barlow Condensed</vt:lpstr>
      <vt:lpstr>Poppins</vt:lpstr>
      <vt:lpstr>Aharoni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FHELI: Sovereign Edge Biometrics &amp; Liveness System</dc:title>
  <dc:subject>FHELI: Sovereign Edge Biometrics &amp; Liveness System</dc:subject>
  <dc:creator>Kimi</dc:creator>
  <cp:lastModifiedBy>Harish Rohith</cp:lastModifiedBy>
  <cp:revision>2</cp:revision>
  <dcterms:created xsi:type="dcterms:W3CDTF">2026-06-05T10:28:43Z</dcterms:created>
  <dcterms:modified xsi:type="dcterms:W3CDTF">2026-06-05T16:08:59Z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{"Label":"FHELI: Sovereign Edge Biometrics &amp; Liveness System","ContentProducer":"001191110108MACG2KBH8F10000","ProduceID":"19e97506-e2f2-8a65-8000-0000ea5823f8","ReservedCode1":"","ContentPropagator":"001191110108MACG2KBH8F20000","PropagateID":"19e97506-e2f2-8a65-8000-0000ea5823f8","ReservedCode2":""}</vt:lpwstr>
  </property>
</Properties>
</file>